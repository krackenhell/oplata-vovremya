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fe8a3eae6d14ddd" /><Relationship Type="http://schemas.openxmlformats.org/officeDocument/2006/relationships/extended-properties" Target="/docProps/app.xml" Id="R1b110606803f4968" /><Relationship Type="http://schemas.openxmlformats.org/officeDocument/2006/relationships/officeDocument" Target="/ppt/presentation.xml" Id="R5252d217fd3c419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1b3a723223f4955"/>
  </p:sldMasterIdLst>
  <p:notesMasterIdLst>
    <p:notesMasterId xmlns:r="http://schemas.openxmlformats.org/officeDocument/2006/relationships" r:id="R9d33f670db3f4588"/>
  </p:notesMasterIdLst>
  <p:sldIdLst>
    <p:sldId xmlns:r="http://schemas.openxmlformats.org/officeDocument/2006/relationships" id="256" r:id="Rf33d149e9fba495a"/>
    <p:sldId xmlns:r="http://schemas.openxmlformats.org/officeDocument/2006/relationships" id="257" r:id="R720c375f580f4c49"/>
    <p:sldId xmlns:r="http://schemas.openxmlformats.org/officeDocument/2006/relationships" id="258" r:id="R44a55258f8554e80"/>
    <p:sldId xmlns:r="http://schemas.openxmlformats.org/officeDocument/2006/relationships" id="259" r:id="R9739cb32a62e420d"/>
    <p:sldId xmlns:r="http://schemas.openxmlformats.org/officeDocument/2006/relationships" id="260" r:id="Rd23da8283014487e"/>
    <p:sldId xmlns:r="http://schemas.openxmlformats.org/officeDocument/2006/relationships" id="261" r:id="R0adb1d5ed3474ff0"/>
    <p:sldId xmlns:r="http://schemas.openxmlformats.org/officeDocument/2006/relationships" id="262" r:id="R3d30407d6dde442d"/>
    <p:sldId xmlns:r="http://schemas.openxmlformats.org/officeDocument/2006/relationships" id="263" r:id="R671192386db34aaa"/>
    <p:sldId xmlns:r="http://schemas.openxmlformats.org/officeDocument/2006/relationships" id="264" r:id="R7e8d64dc9e0b41cc"/>
    <p:sldId xmlns:r="http://schemas.openxmlformats.org/officeDocument/2006/relationships" id="265" r:id="R74d68801af3549f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d24350bb03a47ce" /><Relationship Type="http://schemas.openxmlformats.org/officeDocument/2006/relationships/slideMaster" Target="/ppt/slideMasters/slideMaster1.xml" Id="R31b3a723223f4955" /><Relationship Type="http://schemas.openxmlformats.org/officeDocument/2006/relationships/notesMaster" Target="/ppt/notesMasters/notesMaster1.xml" Id="R9d33f670db3f4588" /><Relationship Type="http://schemas.openxmlformats.org/officeDocument/2006/relationships/presProps" Target="/ppt/presProps.xml" Id="R7a609237c08e4e3c" /><Relationship Type="http://schemas.openxmlformats.org/officeDocument/2006/relationships/tableStyles" Target="/ppt/tableStyles.xml" Id="Rc9f2a710d45b4ad1" /><Relationship Type="http://schemas.openxmlformats.org/officeDocument/2006/relationships/slide" Target="/ppt/slides/slide1.xml" Id="Rf33d149e9fba495a" /><Relationship Type="http://schemas.openxmlformats.org/officeDocument/2006/relationships/slide" Target="/ppt/slides/slide2.xml" Id="R720c375f580f4c49" /><Relationship Type="http://schemas.openxmlformats.org/officeDocument/2006/relationships/slide" Target="/ppt/slides/slide3.xml" Id="R44a55258f8554e80" /><Relationship Type="http://schemas.openxmlformats.org/officeDocument/2006/relationships/slide" Target="/ppt/slides/slide4.xml" Id="R9739cb32a62e420d" /><Relationship Type="http://schemas.openxmlformats.org/officeDocument/2006/relationships/slide" Target="/ppt/slides/slide5.xml" Id="Rd23da8283014487e" /><Relationship Type="http://schemas.openxmlformats.org/officeDocument/2006/relationships/slide" Target="/ppt/slides/slide6.xml" Id="R0adb1d5ed3474ff0" /><Relationship Type="http://schemas.openxmlformats.org/officeDocument/2006/relationships/slide" Target="/ppt/slides/slide7.xml" Id="R3d30407d6dde442d" /><Relationship Type="http://schemas.openxmlformats.org/officeDocument/2006/relationships/slide" Target="/ppt/slides/slide8.xml" Id="R671192386db34aaa" /><Relationship Type="http://schemas.openxmlformats.org/officeDocument/2006/relationships/slide" Target="/ppt/slides/slide9.xml" Id="R7e8d64dc9e0b41cc" /><Relationship Type="http://schemas.openxmlformats.org/officeDocument/2006/relationships/slide" Target="/ppt/slides/slide10.xml" Id="R74d68801af3549f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f25cb8d0a9a4fb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529500e9dd64230" /><Relationship Type="http://schemas.openxmlformats.org/officeDocument/2006/relationships/notesMaster" Target="/ppt/notesMasters/notesMaster1.xml" Id="R4ae9c9abe07546a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77ffc65e8aa4d6f" /><Relationship Type="http://schemas.openxmlformats.org/officeDocument/2006/relationships/notesMaster" Target="/ppt/notesMasters/notesMaster1.xml" Id="R19e7c5150808435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81c3548b9484b4d" /><Relationship Type="http://schemas.openxmlformats.org/officeDocument/2006/relationships/notesMaster" Target="/ppt/notesMasters/notesMaster1.xml" Id="R0c257289af9b475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f135874facd4b8a" /><Relationship Type="http://schemas.openxmlformats.org/officeDocument/2006/relationships/notesMaster" Target="/ppt/notesMasters/notesMaster1.xml" Id="R28255516679b4ca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efa05936bda4ad0" /><Relationship Type="http://schemas.openxmlformats.org/officeDocument/2006/relationships/notesMaster" Target="/ppt/notesMasters/notesMaster1.xml" Id="Re717991a819246e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4c17bdeeb294747" /><Relationship Type="http://schemas.openxmlformats.org/officeDocument/2006/relationships/notesMaster" Target="/ppt/notesMasters/notesMaster1.xml" Id="R16184849f6294ab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c5abdca55064163" /><Relationship Type="http://schemas.openxmlformats.org/officeDocument/2006/relationships/notesMaster" Target="/ppt/notesMasters/notesMaster1.xml" Id="R85823a1cde63434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839daa0db0840df" /><Relationship Type="http://schemas.openxmlformats.org/officeDocument/2006/relationships/notesMaster" Target="/ppt/notesMasters/notesMaster1.xml" Id="R88821548f111499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f9643aac2874646" /><Relationship Type="http://schemas.openxmlformats.org/officeDocument/2006/relationships/notesMaster" Target="/ppt/notesMasters/notesMaster1.xml" Id="R7248313a477f45e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176efcef8e443a0" /><Relationship Type="http://schemas.openxmlformats.org/officeDocument/2006/relationships/notesMaster" Target="/ppt/notesMasters/notesMaster1.xml" Id="Rfca2e7e02be7444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Проект для Академии Финтеха 2026. Трек «Финтех без границ». Стадия: работающий браузерный MVP. ИИ-модель и интеграции пока не подключены.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РСПП, «Состояние российской экономики и деятельность компаний: результаты мониторинга РСПП по итогам II квартала 2026 года». https://rspp.ru/activity/analytics/sostoyanie-rossiyskoy-ekonomiki-i-deyatelnost-kompaniy-rezultaty-monitoringa-rspp-po-itogam-ii-kvart . Показатель относится к участникам мониторинга, а не ко всем российским компаниям. Найденная статистика не определяет долю задержек, которые способен устранить продукт.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Целевой сегмент и причины задержек являются продуктовыми гипотезами. Интервью, пилотов и подтверждённых продаж пока нет. Начальный сегмент: B2B-услуги с отсрочкой платежа.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Реальный снимок работающего MVP, созданный 11 октября 2026 года. Демонстрационные компании и переписка вымышлены. Реализованы импорт CSV, расчёт остатка и просрочки, поиск, фильтры и разбор текста по правилам.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Пример вымышленный, взят из демонстрационного набора MVP. Цитата из контекста: «Не получили подписанный акт за сентябрь. Пришлите, пожалуйста, повторно: без него бухгалтерия не сможет провести оплату». Детерминированный разбор находит явную формулировку запроса документа. Это сигнал для проверки человеком. Языковая модель не подключена.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Функции проверены в браузере: создание и выполнение действия, редактирование текста письма, валидация и импорт CSV, частичная оплата, сохранение в пределах вкладки, добавление текста переписки и мобильная версия. Это техническая проверка, а не пользовательский пилот. Языковая модель, OCR, почта, 1С и банковские интеграции отсутствуют.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 функций 1С: https://v8.1c.ru/cpm-erp/kommercheskomu-direktoru/ . В системе есть контроль сроков и задолженности, напоминания и дальнейшая работа. Источник соседнего сегмента: https://planfact.io/price . Отличие нового продукта не подтверждено сравнительным испытанием. Мы исследуем ценность разбора переписки и документов по конкретному счёту поверх учётной системы.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Все значения на этом слайде являются иллюстративными допущениями, не результатами пилота. 3 000 000 / 30 * 3 = 300 000 рублей высвобождённого оборотного капитала при равномерном распределении поступлений. Это не дополнительная выручка и не экономия 300 000 рублей. Гипотеза подписки 5–15 тыс. рублей в месяц требует проверки. Ориентир смежной категории: https://planfact.io/price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План, не достигнутые результаты. К 1 ноября планируется исследование, выбор узкого сегмента и тестирование MVP. К 29 ноября: развитие разбора, качество и финансовая модель. К 8 декабря: пилот при согласовании с заказчиком. Для оценки качества важны разметка специалиста и отдельные проверочные примеры. Банковская интеграция является перспективой, не договорённостью с ВТБ.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Команда: Иван Сороковых и Михаил Дементьев. Иван учится во ВШЭ на программе «Финансовые рынки и финансовые институты», по уточнению пользователя. Михаил работает инженером в НОВАТЭК. Роли являются планом распределения работы. Стадия: MVP. Исследования пользователей, пилота и подтверждённых продаж нет. Демо https://krackenhell.github.io/oplata-vovremya/ . Код https://github.com/Krackenhell/oplata-vovremya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8925343c744e4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7041ce45214ab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200203b7d2403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8f8ba5e9f54c0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b59d6aa30c42c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6746d015e5449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8DBE8CB-4A7C-40D9-BEDA-9AF820BD4A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3E6B132-F383-4AD9-8A8C-6A70E274C5C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3629072-C6F8-41F6-946B-712E860FA9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9A3F4D0-995B-45BD-9C0E-217B662769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745B6D4-1C10-4C67-9541-B8930C0982A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69871D9-F8A6-43F6-BC1D-56289B5437C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10C0CBE-C600-4FEB-AE5A-50C477F270E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88F6DEB-1647-4FC5-835D-D160ECC1BC4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67E753C-0BEE-483A-B454-55D88153AE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E1D52CC-938C-4680-88C3-8E238C7C1EA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c9f8a65676c430b" /><Relationship Type="http://schemas.openxmlformats.org/officeDocument/2006/relationships/slideLayout" Target="/ppt/slideLayouts/slideLayout1.xml" Id="Rca98c8320c424e3e" /><Relationship Type="http://schemas.openxmlformats.org/officeDocument/2006/relationships/slideLayout" Target="/ppt/slideLayouts/slideLayout2.xml" Id="Rb6ea51c4422f49f2" /><Relationship Type="http://schemas.openxmlformats.org/officeDocument/2006/relationships/slideLayout" Target="/ppt/slideLayouts/slideLayout3.xml" Id="Rfe51c785d3b741e3" /><Relationship Type="http://schemas.openxmlformats.org/officeDocument/2006/relationships/slideLayout" Target="/ppt/slideLayouts/slideLayout4.xml" Id="R5cc70baa6d0f4d23" /><Relationship Type="http://schemas.openxmlformats.org/officeDocument/2006/relationships/slideLayout" Target="/ppt/slideLayouts/slideLayout5.xml" Id="R5633d3f419324360" /><Relationship Type="http://schemas.openxmlformats.org/officeDocument/2006/relationships/slideLayout" Target="/ppt/slideLayouts/slideLayout6.xml" Id="Rf130a1b7ebaf450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a98c8320c424e3e"/>
    <p:sldLayoutId xmlns:r="http://schemas.openxmlformats.org/officeDocument/2006/relationships" id="2147483650" r:id="Rb6ea51c4422f49f2"/>
    <p:sldLayoutId xmlns:r="http://schemas.openxmlformats.org/officeDocument/2006/relationships" id="2147483651" r:id="Rfe51c785d3b741e3"/>
    <p:sldLayoutId xmlns:r="http://schemas.openxmlformats.org/officeDocument/2006/relationships" id="2147483652" r:id="R5cc70baa6d0f4d23"/>
    <p:sldLayoutId xmlns:r="http://schemas.openxmlformats.org/officeDocument/2006/relationships" id="2147483653" r:id="R5633d3f419324360"/>
    <p:sldLayoutId xmlns:r="http://schemas.openxmlformats.org/officeDocument/2006/relationships" id="2147483654" r:id="Rf130a1b7ebaf450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94916d61ed4a32" /><Relationship Type="http://schemas.openxmlformats.org/officeDocument/2006/relationships/notesSlide" Target="/ppt/notesSlides/notesSlide1.xml" Id="R51aeaa32094c458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b6ecd0be0c645a1" /><Relationship Type="http://schemas.openxmlformats.org/officeDocument/2006/relationships/notesSlide" Target="/ppt/notesSlides/notesSlide2.xml" Id="Rf896242f0c164ea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847b8c5c3c7467d" /><Relationship Type="http://schemas.openxmlformats.org/officeDocument/2006/relationships/notesSlide" Target="/ppt/notesSlides/notesSlide3.xml" Id="R51ce4b80b38a4aa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8591e7a25844ef" /><Relationship Type="http://schemas.openxmlformats.org/officeDocument/2006/relationships/image" Target="/ppt/media/image.png" Id="R8e28761c82a44653" /><Relationship Type="http://schemas.openxmlformats.org/officeDocument/2006/relationships/notesSlide" Target="/ppt/notesSlides/notesSlide4.xml" Id="R29f9d2341240418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9d1da7512a4779" /><Relationship Type="http://schemas.openxmlformats.org/officeDocument/2006/relationships/image" Target="/ppt/media/image2.png" Id="Rcde94cf21ec34616" /><Relationship Type="http://schemas.openxmlformats.org/officeDocument/2006/relationships/notesSlide" Target="/ppt/notesSlides/notesSlide5.xml" Id="R0af7a28fe96e47a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0e2e02bcf2413a" /><Relationship Type="http://schemas.openxmlformats.org/officeDocument/2006/relationships/notesSlide" Target="/ppt/notesSlides/notesSlide6.xml" Id="Ra63ea80996b74c3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f8a7946a0a4544" /><Relationship Type="http://schemas.openxmlformats.org/officeDocument/2006/relationships/notesSlide" Target="/ppt/notesSlides/notesSlide7.xml" Id="R63e6bb3e9dca4ae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db6da8210954967" /><Relationship Type="http://schemas.openxmlformats.org/officeDocument/2006/relationships/notesSlide" Target="/ppt/notesSlides/notesSlide8.xml" Id="R87ad27c429cd4a2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2091b7027b4629" /><Relationship Type="http://schemas.openxmlformats.org/officeDocument/2006/relationships/notesSlide" Target="/ppt/notesSlides/notesSlide9.xml" Id="Rdcacdfd5deef4e2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30b117597b41ad" /><Relationship Type="http://schemas.openxmlformats.org/officeDocument/2006/relationships/hyperlink" Target="https://krackenhell.github.io/oplata-vovremya/" TargetMode="External" Id="R6de3dbf51569416b" /><Relationship Type="http://schemas.openxmlformats.org/officeDocument/2006/relationships/notesSlide" Target="/ppt/notesSlides/notesSlide10.xml" Id="R6df000edd292452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315D4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ABA376-74CC-4CF3-9357-76D4F20D1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246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B7C8B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B7C8B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7C8BD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7B3513-E205-4595-B1EE-451641D72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572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8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8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Оплата</a:t>
            </a:r>
          </a:p>
          <a:p xmlns:a="http://schemas.openxmlformats.org/drawingml/2006/main">
            <a:pPr>
              <a:defRPr sz="8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вовремя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79361C-027B-4805-953C-6EA328244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038600"/>
            <a:ext cx="8858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E3EBD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E3EBDD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E3EBDD"/>
                </a:solidFill>
                <a:latin typeface="Arial"/>
                <a:ea typeface="Arial"/>
                <a:cs typeface="Arial"/>
              </a:rPr>
              <a:t>Помогаем разобраться,</a:t>
            </a:r>
          </a:p>
          <a:p xmlns:a="http://schemas.openxmlformats.org/drawingml/2006/main">
            <a:pPr>
              <a:defRPr sz="2475" b="0">
                <a:solidFill>
                  <a:srgbClr val="E3EBDD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E3EBDD"/>
                </a:solidFill>
                <a:latin typeface="Arial"/>
                <a:ea typeface="Arial"/>
                <a:cs typeface="Arial"/>
              </a:rPr>
              <a:t>что мешает клиенту оплатить счёт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62ED63-B71A-42A9-8DAC-F117A9AE7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81675"/>
            <a:ext cx="857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B7C8B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B7C8B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7C8BD"/>
                </a:solidFill>
                <a:latin typeface="Arial"/>
                <a:ea typeface="Arial"/>
                <a:cs typeface="Arial"/>
              </a:rPr>
              <a:t>Академия Финтеха 2026</a:t>
            </a:r>
          </a:p>
          <a:p xmlns:a="http://schemas.openxmlformats.org/drawingml/2006/main">
            <a:pPr>
              <a:defRPr sz="1500" b="0">
                <a:solidFill>
                  <a:srgbClr val="B7C8B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7C8BD"/>
                </a:solidFill>
                <a:latin typeface="Arial"/>
                <a:ea typeface="Arial"/>
                <a:cs typeface="Arial"/>
              </a:rPr>
              <a:t>Финтех без границ</a:t>
            </a:r>
          </a:p>
        </p:txBody>
      </p:sp>
    </p:spTree>
    <p:extLst>
      <p:ext uri="{BB962C8B-B14F-4D97-AF65-F5344CB8AC3E}">
        <p14:creationId xmlns:p14="http://schemas.microsoft.com/office/powerpoint/2010/main" val="18016715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8C9EB0-6FD8-4985-B545-FFD08BDF3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252A2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52A28"/>
                </a:solidFill>
                <a:latin typeface="Arial"/>
                <a:ea typeface="Arial"/>
                <a:cs typeface="Arial"/>
              </a:rPr>
              <a:t>Неплатежи ограничивают работу компаний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4C7988-C5B1-46E5-BAEF-49CE2E11E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246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1786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17903E-1CE6-4A77-B769-5164AB417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6000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0" b="1">
                <a:solidFill>
                  <a:srgbClr val="B153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0" b="1">
                <a:solidFill>
                  <a:srgbClr val="B15335"/>
                </a:solidFill>
                <a:latin typeface="Arial"/>
                <a:ea typeface="Arial"/>
                <a:cs typeface="Arial"/>
              </a:defRPr>
            </a:pPr>
            <a:r>
              <a:rPr sz="12000" b="1">
                <a:solidFill>
                  <a:srgbClr val="B15335"/>
                </a:solidFill>
                <a:latin typeface="Arial"/>
                <a:ea typeface="Arial"/>
                <a:cs typeface="Arial"/>
              </a:rPr>
              <a:t>≈40%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7B031A-8A11-4E8F-98A6-A788F169E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62200"/>
            <a:ext cx="452437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52A28"/>
                </a:solidFill>
                <a:latin typeface="Arial"/>
                <a:ea typeface="Arial"/>
                <a:cs typeface="Arial"/>
              </a:rPr>
              <a:t>участников мониторинга РСПП</a:t>
            </a:r>
          </a:p>
          <a:p xmlns:a="http://schemas.openxmlformats.org/drawingml/2006/main">
            <a:pPr>
              <a:defRPr sz="2175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52A28"/>
                </a:solidFill>
                <a:latin typeface="Arial"/>
                <a:ea typeface="Arial"/>
                <a:cs typeface="Arial"/>
              </a:rPr>
              <a:t>назвали неплатежи контрагентов</a:t>
            </a:r>
          </a:p>
          <a:p xmlns:a="http://schemas.openxmlformats.org/drawingml/2006/main">
            <a:pPr>
              <a:defRPr sz="2175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52A28"/>
                </a:solidFill>
                <a:latin typeface="Arial"/>
                <a:ea typeface="Arial"/>
                <a:cs typeface="Arial"/>
              </a:rPr>
              <a:t>главным ограничением деятельности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6BCD51-F624-4711-868B-0389443D6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71786F"/>
                </a:solidFill>
                <a:latin typeface="Arial"/>
                <a:ea typeface="Arial"/>
                <a:cs typeface="Arial"/>
              </a:rPr>
              <a:t>II квартал 2026 года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320FB0-726E-460B-860C-266B18094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81575"/>
            <a:ext cx="10382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52A28"/>
                </a:solidFill>
                <a:latin typeface="Arial"/>
                <a:ea typeface="Arial"/>
                <a:cs typeface="Arial"/>
              </a:rPr>
              <a:t>Наша гипотеза: часть задержек можно сократить,</a:t>
            </a:r>
          </a:p>
          <a:p xmlns:a="http://schemas.openxmlformats.org/drawingml/2006/main">
            <a:pPr>
              <a:defRPr sz="2175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52A28"/>
                </a:solidFill>
                <a:latin typeface="Arial"/>
                <a:ea typeface="Arial"/>
                <a:cs typeface="Arial"/>
              </a:rPr>
              <a:t>если вовремя разобраться с документами и договорённостями.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72BFE0-064F-4CDC-9A0E-533BF71B2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24840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1786F"/>
                </a:solidFill>
                <a:latin typeface="Arial"/>
                <a:ea typeface="Arial"/>
                <a:cs typeface="Arial"/>
              </a:rPr>
              <a:t>Источник: мониторинг РСПП. Применимость гипотезы предстоит проверить.</a:t>
            </a:r>
          </a:p>
        </p:txBody>
      </p:sp>
    </p:spTree>
    <p:extLst>
      <p:ext uri="{BB962C8B-B14F-4D97-AF65-F5344CB8AC3E}">
        <p14:creationId xmlns:p14="http://schemas.microsoft.com/office/powerpoint/2010/main" val="39840412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D51B34-E08D-49C8-A9B3-06E61CCFE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252A2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52A28"/>
                </a:solidFill>
                <a:latin typeface="Arial"/>
                <a:ea typeface="Arial"/>
                <a:cs typeface="Arial"/>
              </a:rPr>
              <a:t>Первый клиент: компания с оплатой после работ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3FA529-4FFE-4624-A909-F622EBBB3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246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1786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D83D82-F3AB-4AEB-A3F9-AC1557EF8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6191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875" b="1">
                <a:solidFill>
                  <a:srgbClr val="315D4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875" b="1">
                <a:solidFill>
                  <a:srgbClr val="315D4B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315D4B"/>
                </a:solidFill>
                <a:latin typeface="Arial"/>
                <a:ea typeface="Arial"/>
                <a:cs typeface="Arial"/>
              </a:rPr>
              <a:t>Работу сдали.</a:t>
            </a:r>
          </a:p>
          <a:p xmlns:a="http://schemas.openxmlformats.org/drawingml/2006/main">
            <a:pPr>
              <a:defRPr sz="4875" b="1">
                <a:solidFill>
                  <a:srgbClr val="315D4B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315D4B"/>
                </a:solidFill>
                <a:latin typeface="Arial"/>
                <a:ea typeface="Arial"/>
                <a:cs typeface="Arial"/>
              </a:rPr>
              <a:t>Оплата зависла.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1366EF-FD2D-4ED9-B306-5D2353B92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105025"/>
            <a:ext cx="4286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52A28"/>
                </a:solidFill>
                <a:latin typeface="Arial"/>
                <a:ea typeface="Arial"/>
                <a:cs typeface="Arial"/>
              </a:rPr>
              <a:t>В реестре видна просрочка.</a:t>
            </a:r>
          </a:p>
          <a:p xmlns:a="http://schemas.openxmlformats.org/drawingml/2006/main">
            <a:pPr>
              <a:defRPr sz="2175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52A28"/>
                </a:solidFill>
                <a:latin typeface="Arial"/>
                <a:ea typeface="Arial"/>
                <a:cs typeface="Arial"/>
              </a:rPr>
              <a:t>Причину сотрудник ищет в почте,</a:t>
            </a:r>
          </a:p>
          <a:p xmlns:a="http://schemas.openxmlformats.org/drawingml/2006/main">
            <a:pPr>
              <a:defRPr sz="2175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52A28"/>
                </a:solidFill>
                <a:latin typeface="Arial"/>
                <a:ea typeface="Arial"/>
                <a:cs typeface="Arial"/>
              </a:rPr>
              <a:t>документах и сообщениях коллег.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286D28-F2E8-4F37-8D3F-FF1628F0A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8625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71786F"/>
                </a:solidFill>
                <a:latin typeface="Arial"/>
                <a:ea typeface="Arial"/>
                <a:cs typeface="Arial"/>
              </a:rPr>
              <a:t>Кто работает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1F72E5-A088-4851-9536-263087488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57750"/>
            <a:ext cx="5334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52A28"/>
                </a:solidFill>
                <a:latin typeface="Arial"/>
                <a:ea typeface="Arial"/>
                <a:cs typeface="Arial"/>
              </a:rPr>
              <a:t>Бухгалтер или финансовый менеджер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1C3743-12E5-40D3-8E2D-B5F661A1E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28625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71786F"/>
                </a:solidFill>
                <a:latin typeface="Arial"/>
                <a:ea typeface="Arial"/>
                <a:cs typeface="Arial"/>
              </a:rPr>
              <a:t>Кто покупает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724F37-3F4E-4D7A-B062-A9CCB9F12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857750"/>
            <a:ext cx="4286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52A28"/>
                </a:solidFill>
                <a:latin typeface="Arial"/>
                <a:ea typeface="Arial"/>
                <a:cs typeface="Arial"/>
              </a:rPr>
              <a:t>Собственник или</a:t>
            </a:r>
          </a:p>
          <a:p xmlns:a="http://schemas.openxmlformats.org/drawingml/2006/main">
            <a:pPr>
              <a:defRPr sz="2250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52A28"/>
                </a:solidFill>
                <a:latin typeface="Arial"/>
                <a:ea typeface="Arial"/>
                <a:cs typeface="Arial"/>
              </a:rPr>
              <a:t>финансовый руководитель</a:t>
            </a:r>
          </a:p>
        </p:txBody>
      </p:sp>
    </p:spTree>
    <p:extLst>
      <p:ext uri="{BB962C8B-B14F-4D97-AF65-F5344CB8AC3E}">
        <p14:creationId xmlns:p14="http://schemas.microsoft.com/office/powerpoint/2010/main" val="37212846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6FAF71-EFCF-4290-992F-61076D979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252A2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52A28"/>
                </a:solidFill>
                <a:latin typeface="Arial"/>
                <a:ea typeface="Arial"/>
                <a:cs typeface="Arial"/>
              </a:rPr>
              <a:t>Рабочий стол неоплаченных счетов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A27142-E411-4263-937C-99A9364CC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246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1786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83BAD5-B887-44BF-9034-F16B7D13A37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28761c82a44653"/>
          <a:stretch xmlns:a="http://schemas.openxmlformats.org/drawingml/2006/main"/>
        </p:blipFill>
        <p:spPr>
          <a:xfrm xmlns:a="http://schemas.openxmlformats.org/drawingml/2006/main">
            <a:off x="1352550" y="1685925"/>
            <a:ext cx="6400800" cy="46672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F55083-59A3-4054-8474-4D450FA66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7645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315D4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315D4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315D4B"/>
                </a:solidFill>
                <a:latin typeface="Arial"/>
                <a:ea typeface="Arial"/>
                <a:cs typeface="Arial"/>
              </a:rPr>
              <a:t>Реестр из CSV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12F34F-DE51-4392-868F-1E249E641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962275"/>
            <a:ext cx="266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52A28"/>
                </a:solidFill>
                <a:latin typeface="Arial"/>
                <a:ea typeface="Arial"/>
                <a:cs typeface="Arial"/>
              </a:rPr>
              <a:t>Остаток с учётом</a:t>
            </a:r>
          </a:p>
          <a:p xmlns:a="http://schemas.openxmlformats.org/drawingml/2006/main">
            <a:pPr>
              <a:defRPr sz="1950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52A28"/>
                </a:solidFill>
                <a:latin typeface="Arial"/>
                <a:ea typeface="Arial"/>
                <a:cs typeface="Arial"/>
              </a:rPr>
              <a:t>частичных оплат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FEB629-343E-4ECA-BA18-D67592E34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143375"/>
            <a:ext cx="266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52A28"/>
                </a:solidFill>
                <a:latin typeface="Arial"/>
                <a:ea typeface="Arial"/>
                <a:cs typeface="Arial"/>
              </a:rPr>
              <a:t>Просрочка</a:t>
            </a:r>
          </a:p>
          <a:p xmlns:a="http://schemas.openxmlformats.org/drawingml/2006/main">
            <a:pPr>
              <a:defRPr sz="1950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52A28"/>
                </a:solidFill>
                <a:latin typeface="Arial"/>
                <a:ea typeface="Arial"/>
                <a:cs typeface="Arial"/>
              </a:rPr>
              <a:t>на выбранную дату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9DF1E7-9E3F-4102-9904-378BC4CF5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324475"/>
            <a:ext cx="2667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71786F"/>
                </a:solidFill>
                <a:latin typeface="Arial"/>
                <a:ea typeface="Arial"/>
                <a:cs typeface="Arial"/>
              </a:rPr>
              <a:t>Открытое демо</a:t>
            </a:r>
          </a:p>
          <a:p xmlns:a="http://schemas.openxmlformats.org/drawingml/2006/main">
            <a:pPr>
              <a:defRPr sz="1800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71786F"/>
                </a:solidFill>
                <a:latin typeface="Arial"/>
                <a:ea typeface="Arial"/>
                <a:cs typeface="Arial"/>
              </a:rPr>
              <a:t>без регистрации</a:t>
            </a:r>
          </a:p>
        </p:txBody>
      </p:sp>
    </p:spTree>
    <p:extLst>
      <p:ext uri="{BB962C8B-B14F-4D97-AF65-F5344CB8AC3E}">
        <p14:creationId xmlns:p14="http://schemas.microsoft.com/office/powerpoint/2010/main" val="14859649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F5CA80-35D3-419A-BCD3-3AC6E4A09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252A2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52A28"/>
                </a:solidFill>
                <a:latin typeface="Arial"/>
                <a:ea typeface="Arial"/>
                <a:cs typeface="Arial"/>
              </a:rPr>
              <a:t>Запрос клиента становится конкретным действием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2CD8FF-E2CC-4D03-9DBB-30A90EFAC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246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1786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58F07C-890F-4D38-A7DA-1090A9887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6667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6225" b="1">
                <a:solidFill>
                  <a:srgbClr val="315D4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6225" b="1">
                <a:solidFill>
                  <a:srgbClr val="315D4B"/>
                </a:solidFill>
                <a:latin typeface="Arial"/>
                <a:ea typeface="Arial"/>
                <a:cs typeface="Arial"/>
              </a:defRPr>
            </a:pPr>
            <a:r>
              <a:rPr sz="6225" b="1">
                <a:solidFill>
                  <a:srgbClr val="315D4B"/>
                </a:solidFill>
                <a:latin typeface="Arial"/>
                <a:ea typeface="Arial"/>
                <a:cs typeface="Arial"/>
              </a:rPr>
              <a:t>184 000 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73D58C-05A9-42CE-A489-71BDC44D2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43250"/>
            <a:ext cx="666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71786F"/>
                </a:solidFill>
                <a:latin typeface="Arial"/>
                <a:ea typeface="Arial"/>
                <a:cs typeface="Arial"/>
              </a:rPr>
              <a:t>Счёт № 1042, семь дней просрочки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8D3B5B-5B05-4CCB-B952-17E5840F6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57650"/>
            <a:ext cx="68103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625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625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252A28"/>
                </a:solidFill>
                <a:latin typeface="Arial"/>
                <a:ea typeface="Arial"/>
                <a:cs typeface="Arial"/>
              </a:rPr>
              <a:t>«Не получили подписанный акт</a:t>
            </a:r>
          </a:p>
          <a:p xmlns:a="http://schemas.openxmlformats.org/drawingml/2006/main">
            <a:pPr>
              <a:defRPr sz="2625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252A28"/>
                </a:solidFill>
                <a:latin typeface="Arial"/>
                <a:ea typeface="Arial"/>
                <a:cs typeface="Arial"/>
              </a:rPr>
              <a:t>за сентябрь. Пришлите повторно»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FB1D00-EA68-4677-B6A1-7131C935C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29250"/>
            <a:ext cx="6000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1786F"/>
                </a:solidFill>
                <a:latin typeface="Arial"/>
                <a:ea typeface="Arial"/>
                <a:cs typeface="Arial"/>
              </a:rPr>
              <a:t>Следующий шаг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D1F6DC-3D40-4C41-BEF3-BC6317AD3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57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315D4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315D4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15D4B"/>
                </a:solidFill>
                <a:latin typeface="Arial"/>
                <a:ea typeface="Arial"/>
                <a:cs typeface="Arial"/>
              </a:rPr>
              <a:t>Проверить документ и передать клиенту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DC67B6-CCF3-4546-B11B-C45F9CA73EF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e94cf21ec34616"/>
          <a:stretch xmlns:a="http://schemas.openxmlformats.org/drawingml/2006/main"/>
        </p:blipFill>
        <p:spPr>
          <a:xfrm xmlns:a="http://schemas.openxmlformats.org/drawingml/2006/main">
            <a:off x="8788919" y="1714500"/>
            <a:ext cx="2367512" cy="4476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27972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F5EAEC-0ABB-4B9A-8DCA-A2014E74A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252A2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52A28"/>
                </a:solidFill>
                <a:latin typeface="Arial"/>
                <a:ea typeface="Arial"/>
                <a:cs typeface="Arial"/>
              </a:rPr>
              <a:t>Что уже можно попробовать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B069A2-997A-462C-8E29-799DAD2D7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246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1786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793422-4014-4D79-B7AC-EAE2926FF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24050"/>
            <a:ext cx="485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315D4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315D4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315D4B"/>
                </a:solidFill>
                <a:latin typeface="Arial"/>
                <a:ea typeface="Arial"/>
                <a:cs typeface="Arial"/>
              </a:rPr>
              <a:t>Работает сейчас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825200-F070-477A-B910-8EA6BCDEB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09875"/>
            <a:ext cx="5429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52A28"/>
                </a:solidFill>
                <a:latin typeface="Arial"/>
                <a:ea typeface="Arial"/>
                <a:cs typeface="Arial"/>
              </a:rPr>
              <a:t>Импорт счетов и частичных оплат</a:t>
            </a:r>
          </a:p>
          <a:p xmlns:a="http://schemas.openxmlformats.org/drawingml/2006/main">
            <a:pPr>
              <a:defRPr sz="2100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52A28"/>
                </a:solidFill>
                <a:latin typeface="Arial"/>
                <a:ea typeface="Arial"/>
                <a:cs typeface="Arial"/>
              </a:rPr>
              <a:t>Разбор текста с исходной цитатой</a:t>
            </a:r>
          </a:p>
          <a:p xmlns:a="http://schemas.openxmlformats.org/drawingml/2006/main">
            <a:pPr>
              <a:defRPr sz="2100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52A28"/>
                </a:solidFill>
                <a:latin typeface="Arial"/>
                <a:ea typeface="Arial"/>
                <a:cs typeface="Arial"/>
              </a:rPr>
              <a:t>Действия для ответственного</a:t>
            </a:r>
          </a:p>
          <a:p xmlns:a="http://schemas.openxmlformats.org/drawingml/2006/main">
            <a:pPr>
              <a:defRPr sz="2100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52A28"/>
                </a:solidFill>
                <a:latin typeface="Arial"/>
                <a:ea typeface="Arial"/>
                <a:cs typeface="Arial"/>
              </a:rPr>
              <a:t>Редактируемое письмо клиенту</a:t>
            </a:r>
          </a:p>
          <a:p xmlns:a="http://schemas.openxmlformats.org/drawingml/2006/main">
            <a:pPr>
              <a:defRPr sz="2100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52A28"/>
                </a:solidFill>
                <a:latin typeface="Arial"/>
                <a:ea typeface="Arial"/>
                <a:cs typeface="Arial"/>
              </a:rPr>
              <a:t>Учёт поступления и экспорт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AE5E66-E904-4620-BE56-D080B96F0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1924050"/>
            <a:ext cx="4286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B153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B1533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B15335"/>
                </a:solidFill>
                <a:latin typeface="Arial"/>
                <a:ea typeface="Arial"/>
                <a:cs typeface="Arial"/>
              </a:rPr>
              <a:t>Следующий этап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1F76B1-D3A4-4225-95C5-FDE31FE2C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809875"/>
            <a:ext cx="4286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52A28"/>
                </a:solidFill>
                <a:latin typeface="Arial"/>
                <a:ea typeface="Arial"/>
                <a:cs typeface="Arial"/>
              </a:rPr>
              <a:t>Языковая модель</a:t>
            </a:r>
          </a:p>
          <a:p xmlns:a="http://schemas.openxmlformats.org/drawingml/2006/main">
            <a:pPr>
              <a:defRPr sz="2100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52A28"/>
                </a:solidFill>
                <a:latin typeface="Arial"/>
                <a:ea typeface="Arial"/>
                <a:cs typeface="Arial"/>
              </a:rPr>
              <a:t>Почта и учётная система</a:t>
            </a:r>
          </a:p>
          <a:p xmlns:a="http://schemas.openxmlformats.org/drawingml/2006/main">
            <a:pPr>
              <a:defRPr sz="2100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52A28"/>
                </a:solidFill>
                <a:latin typeface="Arial"/>
                <a:ea typeface="Arial"/>
                <a:cs typeface="Arial"/>
              </a:rPr>
              <a:t>Проверка на реальных случаях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3594F3-A8D1-4AAC-B50F-642283226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4991100"/>
            <a:ext cx="43338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71786F"/>
                </a:solidFill>
                <a:latin typeface="Arial"/>
                <a:ea typeface="Arial"/>
                <a:cs typeface="Arial"/>
              </a:rPr>
              <a:t>Сейчас данные остаются в браузере.</a:t>
            </a:r>
          </a:p>
          <a:p xmlns:a="http://schemas.openxmlformats.org/drawingml/2006/main">
            <a:pPr>
              <a:defRPr sz="1800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71786F"/>
                </a:solidFill>
                <a:latin typeface="Arial"/>
                <a:ea typeface="Arial"/>
                <a:cs typeface="Arial"/>
              </a:rPr>
              <a:t>Сервис не отправляет сообщения</a:t>
            </a:r>
          </a:p>
          <a:p xmlns:a="http://schemas.openxmlformats.org/drawingml/2006/main">
            <a:pPr>
              <a:defRPr sz="1800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71786F"/>
                </a:solidFill>
                <a:latin typeface="Arial"/>
                <a:ea typeface="Arial"/>
                <a:cs typeface="Arial"/>
              </a:rPr>
              <a:t>и не проводит платежи.</a:t>
            </a:r>
          </a:p>
        </p:txBody>
      </p:sp>
    </p:spTree>
    <p:extLst>
      <p:ext uri="{BB962C8B-B14F-4D97-AF65-F5344CB8AC3E}">
        <p14:creationId xmlns:p14="http://schemas.microsoft.com/office/powerpoint/2010/main" val="184792437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57C7B9-F968-49F0-80D2-C3D600C21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252A2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52A28"/>
                </a:solidFill>
                <a:latin typeface="Arial"/>
                <a:ea typeface="Arial"/>
                <a:cs typeface="Arial"/>
              </a:rPr>
              <a:t>Существующие решения и наша гипотеза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19CAC7-870E-4DE5-9F96-ABF42F154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246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1786F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82AB14-1ECC-44CD-9621-C6C2F277791D}"/>
              </a:ext>
            </a:extLst>
          </p:cNvPr>
          <p:cNvGraphicFramePr/>
          <p:nvPr/>
        </p:nvGraphicFramePr>
        <p:xfrm>
          <a:off xmlns:a="http://schemas.openxmlformats.org/drawingml/2006/main" x="685800" y="1943100"/>
          <a:ext xmlns:a="http://schemas.openxmlformats.org/drawingml/2006/main" cx="10820400" cy="2905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7486650"/>
              </a:tblGrid>
              <a:tr h="726281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Инструмент</a:t>
                      </a:r>
                    </a:p>
                  </a:txBody>
                  <a:tcPr marL="133350" marR="133350" marT="142875" marB="142875">
                    <a:solidFill>
                      <a:srgbClr val="315D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Что решает</a:t>
                      </a:r>
                    </a:p>
                  </a:txBody>
                  <a:tcPr marL="133350" marR="133350" marT="142875" marB="142875">
                    <a:solidFill>
                      <a:srgbClr val="315D4B"/>
                    </a:solidFill>
                  </a:tcPr>
                </a:tc>
              </a:tr>
              <a:tr h="726281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52A28"/>
                          </a:solidFill>
                          <a:latin typeface="Arial"/>
                          <a:ea typeface="Arial"/>
                          <a:cs typeface="Arial"/>
                        </a:rPr>
                        <a:t>1С и системы учёта</a:t>
                      </a:r>
                    </a:p>
                  </a:txBody>
                  <a:tcPr marL="133350" marR="133350" marT="142875" marB="142875">
                    <a:solidFill>
                      <a:srgbClr val="F6F5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52A28"/>
                          </a:solidFill>
                          <a:latin typeface="Arial"/>
                          <a:ea typeface="Arial"/>
                          <a:cs typeface="Arial"/>
                        </a:rPr>
                        <a:t>Суммы, сроки, задолженность, напоминания</a:t>
                      </a:r>
                    </a:p>
                  </a:txBody>
                  <a:tcPr marL="133350" marR="133350" marT="142875" marB="142875">
                    <a:solidFill>
                      <a:srgbClr val="F6F5F1"/>
                    </a:solidFill>
                  </a:tcPr>
                </a:tc>
              </a:tr>
              <a:tr h="726281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52A28"/>
                          </a:solidFill>
                          <a:latin typeface="Arial"/>
                          <a:ea typeface="Arial"/>
                          <a:cs typeface="Arial"/>
                        </a:rPr>
                        <a:t>Почта и документы</a:t>
                      </a:r>
                    </a:p>
                  </a:txBody>
                  <a:tcPr marL="133350" marR="133350" marT="142875" marB="142875">
                    <a:solidFill>
                      <a:srgbClr val="F6F5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52A28"/>
                          </a:solidFill>
                          <a:latin typeface="Arial"/>
                          <a:ea typeface="Arial"/>
                          <a:cs typeface="Arial"/>
                        </a:rPr>
                        <a:t>Контекст остаётся в отдельных сообщениях</a:t>
                      </a:r>
                    </a:p>
                  </a:txBody>
                  <a:tcPr marL="133350" marR="133350" marT="142875" marB="142875">
                    <a:solidFill>
                      <a:srgbClr val="F6F5F1"/>
                    </a:solidFill>
                  </a:tcPr>
                </a:tc>
              </a:tr>
              <a:tr h="726281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52A28"/>
                          </a:solidFill>
                          <a:latin typeface="Arial"/>
                          <a:ea typeface="Arial"/>
                          <a:cs typeface="Arial"/>
                        </a:rPr>
                        <a:t>Наша гипотеза</a:t>
                      </a:r>
                    </a:p>
                  </a:txBody>
                  <a:tcPr marL="133350" marR="133350" marT="142875" marB="142875">
                    <a:solidFill>
                      <a:srgbClr val="F6F5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52A28"/>
                          </a:solidFill>
                          <a:latin typeface="Arial"/>
                          <a:ea typeface="Arial"/>
                          <a:cs typeface="Arial"/>
                        </a:rPr>
                        <a:t>Причина задержки и действие в карточке счёта</a:t>
                      </a:r>
                    </a:p>
                  </a:txBody>
                  <a:tcPr marL="133350" marR="133350" marT="142875" marB="142875">
                    <a:solidFill>
                      <a:srgbClr val="F6F5F1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0580E7-C396-4F3E-B252-A3016453D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578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315D4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315D4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15D4B"/>
                </a:solidFill>
                <a:latin typeface="Arial"/>
                <a:ea typeface="Arial"/>
                <a:cs typeface="Arial"/>
              </a:rPr>
              <a:t>Проверим, экономит ли работа с контекстом время сотрудника</a:t>
            </a:r>
          </a:p>
          <a:p xmlns:a="http://schemas.openxmlformats.org/drawingml/2006/main">
            <a:pPr>
              <a:defRPr sz="2025" b="0">
                <a:solidFill>
                  <a:srgbClr val="315D4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15D4B"/>
                </a:solidFill>
                <a:latin typeface="Arial"/>
                <a:ea typeface="Arial"/>
                <a:cs typeface="Arial"/>
              </a:rPr>
              <a:t>и помогает ли устранять задержки сверх обычных напоминаний.</a:t>
            </a:r>
          </a:p>
        </p:txBody>
      </p:sp>
    </p:spTree>
    <p:extLst>
      <p:ext uri="{BB962C8B-B14F-4D97-AF65-F5344CB8AC3E}">
        <p14:creationId xmlns:p14="http://schemas.microsoft.com/office/powerpoint/2010/main" val="154330015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4359DC-8F0E-4729-BC96-CC0E4E2D6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252A2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52A28"/>
                </a:solidFill>
                <a:latin typeface="Arial"/>
                <a:ea typeface="Arial"/>
                <a:cs typeface="Arial"/>
              </a:rPr>
              <a:t>Экономика: сколько стоит задержка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598E10-1E9D-4864-A761-741C9CCC3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246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1786F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5FF3AA-024E-4F01-B182-3275C821D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76425"/>
            <a:ext cx="714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7425" b="1">
                <a:solidFill>
                  <a:srgbClr val="315D4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7425" b="1">
                <a:solidFill>
                  <a:srgbClr val="315D4B"/>
                </a:solidFill>
                <a:latin typeface="Arial"/>
                <a:ea typeface="Arial"/>
                <a:cs typeface="Arial"/>
              </a:defRPr>
            </a:pPr>
            <a:r>
              <a:rPr sz="7425" b="1">
                <a:solidFill>
                  <a:srgbClr val="315D4B"/>
                </a:solidFill>
                <a:latin typeface="Arial"/>
                <a:ea typeface="Arial"/>
                <a:cs typeface="Arial"/>
              </a:rPr>
              <a:t>300 000 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1C7127-129E-405C-B0BD-16BF6947D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14700"/>
            <a:ext cx="952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52A28"/>
                </a:solidFill>
                <a:latin typeface="Arial"/>
                <a:ea typeface="Arial"/>
                <a:cs typeface="Arial"/>
              </a:rPr>
              <a:t>оборотных средств можно высвободить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0C045B-C408-4721-83EE-6470F6F45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81475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1786F"/>
                </a:solidFill>
                <a:latin typeface="Arial"/>
                <a:ea typeface="Arial"/>
                <a:cs typeface="Arial"/>
              </a:rPr>
              <a:t>Пример расчёта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5CEC79-32E9-455C-818F-76E41B3C3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63817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52A28"/>
                </a:solidFill>
                <a:latin typeface="Arial"/>
                <a:ea typeface="Arial"/>
                <a:cs typeface="Arial"/>
              </a:rPr>
              <a:t>3 млн ₽ поступлений в месяц</a:t>
            </a:r>
          </a:p>
          <a:p xmlns:a="http://schemas.openxmlformats.org/drawingml/2006/main">
            <a:pPr>
              <a:defRPr sz="2100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52A28"/>
                </a:solidFill>
                <a:latin typeface="Arial"/>
                <a:ea typeface="Arial"/>
                <a:cs typeface="Arial"/>
              </a:rPr>
              <a:t>Оплата в среднем на 3 дня раньше</a:t>
            </a:r>
          </a:p>
          <a:p xmlns:a="http://schemas.openxmlformats.org/drawingml/2006/main">
            <a:pPr>
              <a:defRPr sz="2100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52A28"/>
                </a:solidFill>
                <a:latin typeface="Arial"/>
                <a:ea typeface="Arial"/>
                <a:cs typeface="Arial"/>
              </a:rPr>
              <a:t>3 000 000 / 30 × 3 = 300 000 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D11145-DE5E-46A1-BC50-C34FF167E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276725"/>
            <a:ext cx="3524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B153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B1533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B15335"/>
                </a:solidFill>
                <a:latin typeface="Arial"/>
                <a:ea typeface="Arial"/>
                <a:cs typeface="Arial"/>
              </a:rPr>
              <a:t>5–15 тыс. ₽ / мес.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69BE49-8002-43CD-AED3-0C71DCE47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095875"/>
            <a:ext cx="3476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71786F"/>
                </a:solidFill>
                <a:latin typeface="Arial"/>
                <a:ea typeface="Arial"/>
                <a:cs typeface="Arial"/>
              </a:rPr>
              <a:t>Гипотеза подписки.</a:t>
            </a:r>
          </a:p>
          <a:p xmlns:a="http://schemas.openxmlformats.org/drawingml/2006/main">
            <a:pPr>
              <a:defRPr sz="1800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71786F"/>
                </a:solidFill>
                <a:latin typeface="Arial"/>
                <a:ea typeface="Arial"/>
                <a:cs typeface="Arial"/>
              </a:rPr>
              <a:t>Цену проверим на интервью.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78FA72-80F3-4328-8712-856AF110F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5792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1786F"/>
                </a:solidFill>
                <a:latin typeface="Arial"/>
                <a:ea typeface="Arial"/>
                <a:cs typeface="Arial"/>
              </a:rPr>
              <a:t>Иллюстрация, не результат пилота. Высвобождение денег не равно прибыли.</a:t>
            </a:r>
          </a:p>
        </p:txBody>
      </p:sp>
    </p:spTree>
    <p:extLst>
      <p:ext uri="{BB962C8B-B14F-4D97-AF65-F5344CB8AC3E}">
        <p14:creationId xmlns:p14="http://schemas.microsoft.com/office/powerpoint/2010/main" val="189802586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10338F-E12E-47D3-84AC-AF759B989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252A2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52A28"/>
                </a:solidFill>
                <a:latin typeface="Arial"/>
                <a:ea typeface="Arial"/>
                <a:cs typeface="Arial"/>
              </a:rPr>
              <a:t>Проверка спроса и путь к пилоту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824F83-9257-4333-BDAF-A4C7397EB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246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1786F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502FDC-6A58-480A-83E4-5E82A0EC5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81200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1">
                <a:solidFill>
                  <a:srgbClr val="315D4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75" b="1">
                <a:solidFill>
                  <a:srgbClr val="315D4B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315D4B"/>
                </a:solidFill>
                <a:latin typeface="Arial"/>
                <a:ea typeface="Arial"/>
                <a:cs typeface="Arial"/>
              </a:rPr>
              <a:t>До 1 ноября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FD0BA2-5CFB-4C5B-A2B0-E5E7FA446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33675"/>
            <a:ext cx="3333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52A28"/>
                </a:solidFill>
                <a:latin typeface="Arial"/>
                <a:ea typeface="Arial"/>
                <a:cs typeface="Arial"/>
              </a:rPr>
              <a:t>Интервью с финансовыми</a:t>
            </a:r>
          </a:p>
          <a:p xmlns:a="http://schemas.openxmlformats.org/drawingml/2006/main">
            <a:pPr>
              <a:defRPr sz="2025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52A28"/>
                </a:solidFill>
                <a:latin typeface="Arial"/>
                <a:ea typeface="Arial"/>
                <a:cs typeface="Arial"/>
              </a:rPr>
              <a:t>сотрудниками. Разбор</a:t>
            </a:r>
          </a:p>
          <a:p xmlns:a="http://schemas.openxmlformats.org/drawingml/2006/main">
            <a:pPr>
              <a:defRPr sz="2025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52A28"/>
                </a:solidFill>
                <a:latin typeface="Arial"/>
                <a:ea typeface="Arial"/>
                <a:cs typeface="Arial"/>
              </a:rPr>
              <a:t>обезличенных случаев.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267F16-0148-4D8B-A995-0F0196576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981200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1">
                <a:solidFill>
                  <a:srgbClr val="315D4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75" b="1">
                <a:solidFill>
                  <a:srgbClr val="315D4B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315D4B"/>
                </a:solidFill>
                <a:latin typeface="Arial"/>
                <a:ea typeface="Arial"/>
                <a:cs typeface="Arial"/>
              </a:rPr>
              <a:t>До 29 ноября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2A252D-299F-4CC2-BB8E-DFBDBDA9C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733675"/>
            <a:ext cx="3333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52A28"/>
                </a:solidFill>
                <a:latin typeface="Arial"/>
                <a:ea typeface="Arial"/>
                <a:cs typeface="Arial"/>
              </a:rPr>
              <a:t>Модель с проверкой цитат.</a:t>
            </a:r>
          </a:p>
          <a:p xmlns:a="http://schemas.openxmlformats.org/drawingml/2006/main">
            <a:pPr>
              <a:defRPr sz="2025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52A28"/>
                </a:solidFill>
                <a:latin typeface="Arial"/>
                <a:ea typeface="Arial"/>
                <a:cs typeface="Arial"/>
              </a:rPr>
              <a:t>Оценка качества.</a:t>
            </a:r>
          </a:p>
          <a:p xmlns:a="http://schemas.openxmlformats.org/drawingml/2006/main">
            <a:pPr>
              <a:defRPr sz="2025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52A28"/>
                </a:solidFill>
                <a:latin typeface="Arial"/>
                <a:ea typeface="Arial"/>
                <a:cs typeface="Arial"/>
              </a:rPr>
              <a:t>Экономика внедрения.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71EEDD-BFBC-47F9-99A5-6D908226C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981200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1">
                <a:solidFill>
                  <a:srgbClr val="315D4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75" b="1">
                <a:solidFill>
                  <a:srgbClr val="315D4B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315D4B"/>
                </a:solidFill>
                <a:latin typeface="Arial"/>
                <a:ea typeface="Arial"/>
                <a:cs typeface="Arial"/>
              </a:rPr>
              <a:t>До 8 декабря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2978E4-9127-4E59-9EA3-90DF0D883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733675"/>
            <a:ext cx="3143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52A28"/>
                </a:solidFill>
                <a:latin typeface="Arial"/>
                <a:ea typeface="Arial"/>
                <a:cs typeface="Arial"/>
              </a:rPr>
              <a:t>Ограниченный пилот</a:t>
            </a:r>
          </a:p>
          <a:p xmlns:a="http://schemas.openxmlformats.org/drawingml/2006/main">
            <a:pPr>
              <a:defRPr sz="2025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52A28"/>
                </a:solidFill>
                <a:latin typeface="Arial"/>
                <a:ea typeface="Arial"/>
                <a:cs typeface="Arial"/>
              </a:rPr>
              <a:t>при согласовании</a:t>
            </a:r>
          </a:p>
          <a:p xmlns:a="http://schemas.openxmlformats.org/drawingml/2006/main">
            <a:pPr>
              <a:defRPr sz="2025" b="0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52A28"/>
                </a:solidFill>
                <a:latin typeface="Arial"/>
                <a:ea typeface="Arial"/>
                <a:cs typeface="Arial"/>
              </a:rPr>
              <a:t>с компанией.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81139E-BF68-4B99-9768-EFA7B6957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672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52A2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52A28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52A28"/>
                </a:solidFill>
                <a:latin typeface="Arial"/>
                <a:ea typeface="Arial"/>
                <a:cs typeface="Arial"/>
              </a:rPr>
              <a:t>Критерии решения о развитии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E0534E-A2EC-40BC-A7ED-EB742205B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95925"/>
            <a:ext cx="105727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71786F"/>
                </a:solidFill>
                <a:latin typeface="Arial"/>
                <a:ea typeface="Arial"/>
                <a:cs typeface="Arial"/>
              </a:rPr>
              <a:t>Есть повторяющаяся устранимая причина задержек.</a:t>
            </a:r>
          </a:p>
          <a:p xmlns:a="http://schemas.openxmlformats.org/drawingml/2006/main">
            <a:pPr>
              <a:defRPr sz="2025" b="0">
                <a:solidFill>
                  <a:srgbClr val="71786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71786F"/>
                </a:solidFill>
                <a:latin typeface="Arial"/>
                <a:ea typeface="Arial"/>
                <a:cs typeface="Arial"/>
              </a:rPr>
              <a:t>Сотрудник тратит меньше времени. Покупатель готов оплатить пилот.</a:t>
            </a:r>
          </a:p>
        </p:txBody>
      </p:sp>
    </p:spTree>
    <p:extLst>
      <p:ext uri="{BB962C8B-B14F-4D97-AF65-F5344CB8AC3E}">
        <p14:creationId xmlns:p14="http://schemas.microsoft.com/office/powerpoint/2010/main" val="185941645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315D4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33170A-330F-4976-918B-B7E3C2AE8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Демо уже открыто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980530-B0F9-425F-886D-905AF7145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246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B7C8B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B7C8B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7C8BD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4B31B7-29FF-4350-9DDB-8043340FA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FFFFFF"/>
                </a:solidFill>
                <a:latin typeface="Arial"/>
                <a:ea typeface="Arial"/>
                <a:cs typeface="Arial"/>
                <a:hlinkClick xmlns:r="http://schemas.openxmlformats.org/officeDocument/2006/relationships" r:id="R6de3dbf51569416b"/>
              </a:rPr>
              <a:t>krackenhell.github.io/oplata-vovremya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22790B-E15B-455E-80AB-C77B623AA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38525"/>
            <a:ext cx="5905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Иван Сороковых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3FD262-25C6-4D3D-A122-04A6E4DA3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57650"/>
            <a:ext cx="571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D6E2D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D6E2D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6E2D3"/>
                </a:solidFill>
                <a:latin typeface="Arial"/>
                <a:ea typeface="Arial"/>
                <a:cs typeface="Arial"/>
              </a:rPr>
              <a:t>Разработка и продукт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FFCBCA-C84D-424C-B64D-9F7BD4F21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438525"/>
            <a:ext cx="4000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Михаил Дементьев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69158D-581F-4EAB-981B-E8EACCA41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057650"/>
            <a:ext cx="4000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D6E2D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D6E2D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6E2D3"/>
                </a:solidFill>
                <a:latin typeface="Arial"/>
                <a:ea typeface="Arial"/>
                <a:cs typeface="Arial"/>
              </a:rPr>
              <a:t>Исследование процессов</a:t>
            </a:r>
          </a:p>
          <a:p xmlns:a="http://schemas.openxmlformats.org/drawingml/2006/main">
            <a:pPr>
              <a:defRPr sz="1875" b="0">
                <a:solidFill>
                  <a:srgbClr val="D6E2D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6E2D3"/>
                </a:solidFill>
                <a:latin typeface="Arial"/>
                <a:ea typeface="Arial"/>
                <a:cs typeface="Arial"/>
              </a:rPr>
              <a:t>и проверка сценариев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E1C2BF-5EC9-4AD2-B6D6-1A20BDFF5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10125"/>
            <a:ext cx="6191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B7C8B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B7C8B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B7C8BD"/>
                </a:solidFill>
                <a:latin typeface="Arial"/>
                <a:ea typeface="Arial"/>
                <a:cs typeface="Arial"/>
              </a:rPr>
              <a:t>ВШЭ · Финансовые рынки</a:t>
            </a:r>
          </a:p>
          <a:p xmlns:a="http://schemas.openxmlformats.org/drawingml/2006/main">
            <a:pPr>
              <a:defRPr sz="1800" b="0">
                <a:solidFill>
                  <a:srgbClr val="B7C8B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B7C8BD"/>
                </a:solidFill>
                <a:latin typeface="Arial"/>
                <a:ea typeface="Arial"/>
                <a:cs typeface="Arial"/>
              </a:rPr>
              <a:t>и финансовые институты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8D3824-8A08-4437-A972-7FB2EAEEE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15025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Ищем компанию для проверки на реальных счетах</a:t>
            </a:r>
          </a:p>
        </p:txBody>
      </p:sp>
    </p:spTree>
    <p:extLst>
      <p:ext uri="{BB962C8B-B14F-4D97-AF65-F5344CB8AC3E}">
        <p14:creationId xmlns:p14="http://schemas.microsoft.com/office/powerpoint/2010/main" val="79938851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2026-10-11T20:11:25.0940000Z</dcterms:created>
  <dcterms:modified xsi:type="dcterms:W3CDTF">2026-10-11T20:11:25.0940000Z</dcterms:modified>
</coreProperties>
</file>