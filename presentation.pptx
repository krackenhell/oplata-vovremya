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166793052428f" /><Relationship Type="http://schemas.openxmlformats.org/officeDocument/2006/relationships/extended-properties" Target="/docProps/app.xml" Id="R4cc95ebe03cf414c" /><Relationship Type="http://schemas.openxmlformats.org/officeDocument/2006/relationships/officeDocument" Target="/ppt/presentation.xml" Id="R499911c63c8f4f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b680ccaf8a4392"/>
  </p:sldMasterIdLst>
  <p:notesMasterIdLst>
    <p:notesMasterId xmlns:r="http://schemas.openxmlformats.org/officeDocument/2006/relationships" r:id="Rb05f780bdfa24081"/>
  </p:notesMasterIdLst>
  <p:sldIdLst>
    <p:sldId xmlns:r="http://schemas.openxmlformats.org/officeDocument/2006/relationships" id="256" r:id="R5060b10fb9c248d3"/>
    <p:sldId xmlns:r="http://schemas.openxmlformats.org/officeDocument/2006/relationships" id="257" r:id="R53bd309b1e2f41aa"/>
    <p:sldId xmlns:r="http://schemas.openxmlformats.org/officeDocument/2006/relationships" id="258" r:id="Rc8bf0322efd5472a"/>
    <p:sldId xmlns:r="http://schemas.openxmlformats.org/officeDocument/2006/relationships" id="259" r:id="R4de17053be714a47"/>
    <p:sldId xmlns:r="http://schemas.openxmlformats.org/officeDocument/2006/relationships" id="260" r:id="R318ad0ed581645ee"/>
    <p:sldId xmlns:r="http://schemas.openxmlformats.org/officeDocument/2006/relationships" id="261" r:id="R2c400536e9db4904"/>
    <p:sldId xmlns:r="http://schemas.openxmlformats.org/officeDocument/2006/relationships" id="262" r:id="R767915f59de84add"/>
    <p:sldId xmlns:r="http://schemas.openxmlformats.org/officeDocument/2006/relationships" id="263" r:id="Ree7882e7ec2141f7"/>
    <p:sldId xmlns:r="http://schemas.openxmlformats.org/officeDocument/2006/relationships" id="264" r:id="R5edd5b0bb64f426a"/>
    <p:sldId xmlns:r="http://schemas.openxmlformats.org/officeDocument/2006/relationships" id="265" r:id="R6a4e21c7fd674e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faa10d88044cfc" /><Relationship Type="http://schemas.openxmlformats.org/officeDocument/2006/relationships/slideMaster" Target="/ppt/slideMasters/slideMaster1.xml" Id="Rc8b680ccaf8a4392" /><Relationship Type="http://schemas.openxmlformats.org/officeDocument/2006/relationships/notesMaster" Target="/ppt/notesMasters/notesMaster1.xml" Id="Rb05f780bdfa24081" /><Relationship Type="http://schemas.openxmlformats.org/officeDocument/2006/relationships/presProps" Target="/ppt/presProps.xml" Id="R7eff2f9fb2b4467f" /><Relationship Type="http://schemas.openxmlformats.org/officeDocument/2006/relationships/tableStyles" Target="/ppt/tableStyles.xml" Id="Rde2a5c6a66c54b95" /><Relationship Type="http://schemas.openxmlformats.org/officeDocument/2006/relationships/slide" Target="/ppt/slides/slide1.xml" Id="R5060b10fb9c248d3" /><Relationship Type="http://schemas.openxmlformats.org/officeDocument/2006/relationships/slide" Target="/ppt/slides/slide2.xml" Id="R53bd309b1e2f41aa" /><Relationship Type="http://schemas.openxmlformats.org/officeDocument/2006/relationships/slide" Target="/ppt/slides/slide3.xml" Id="Rc8bf0322efd5472a" /><Relationship Type="http://schemas.openxmlformats.org/officeDocument/2006/relationships/slide" Target="/ppt/slides/slide4.xml" Id="R4de17053be714a47" /><Relationship Type="http://schemas.openxmlformats.org/officeDocument/2006/relationships/slide" Target="/ppt/slides/slide5.xml" Id="R318ad0ed581645ee" /><Relationship Type="http://schemas.openxmlformats.org/officeDocument/2006/relationships/slide" Target="/ppt/slides/slide6.xml" Id="R2c400536e9db4904" /><Relationship Type="http://schemas.openxmlformats.org/officeDocument/2006/relationships/slide" Target="/ppt/slides/slide7.xml" Id="R767915f59de84add" /><Relationship Type="http://schemas.openxmlformats.org/officeDocument/2006/relationships/slide" Target="/ppt/slides/slide8.xml" Id="Ree7882e7ec2141f7" /><Relationship Type="http://schemas.openxmlformats.org/officeDocument/2006/relationships/slide" Target="/ppt/slides/slide9.xml" Id="R5edd5b0bb64f426a" /><Relationship Type="http://schemas.openxmlformats.org/officeDocument/2006/relationships/slide" Target="/ppt/slides/slide10.xml" Id="R6a4e21c7fd67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5cafe206e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35c05bcb94a3a" /><Relationship Type="http://schemas.openxmlformats.org/officeDocument/2006/relationships/notesMaster" Target="/ppt/notesMasters/notesMaster1.xml" Id="R26a019af5e2f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ae40bb2f1d4cb2" /><Relationship Type="http://schemas.openxmlformats.org/officeDocument/2006/relationships/notesMaster" Target="/ppt/notesMasters/notesMaster1.xml" Id="R2f77b0882c41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5c3ad28100466c" /><Relationship Type="http://schemas.openxmlformats.org/officeDocument/2006/relationships/notesMaster" Target="/ppt/notesMasters/notesMaster1.xml" Id="Rd7ea59cc68194c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47cd434104ccb" /><Relationship Type="http://schemas.openxmlformats.org/officeDocument/2006/relationships/notesMaster" Target="/ppt/notesMasters/notesMaster1.xml" Id="R76500a4fefbf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bbeb08eae4487" /><Relationship Type="http://schemas.openxmlformats.org/officeDocument/2006/relationships/notesMaster" Target="/ppt/notesMasters/notesMaster1.xml" Id="R201d59b9a279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abb7fb34ad478d" /><Relationship Type="http://schemas.openxmlformats.org/officeDocument/2006/relationships/notesMaster" Target="/ppt/notesMasters/notesMaster1.xml" Id="R0558f549381347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9e2e7800c4cc6" /><Relationship Type="http://schemas.openxmlformats.org/officeDocument/2006/relationships/notesMaster" Target="/ppt/notesMasters/notesMaster1.xml" Id="R56522fae1c5246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350006759d4fd8" /><Relationship Type="http://schemas.openxmlformats.org/officeDocument/2006/relationships/notesMaster" Target="/ppt/notesMasters/notesMaster1.xml" Id="R6ce749993e684e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04e3349af2486b" /><Relationship Type="http://schemas.openxmlformats.org/officeDocument/2006/relationships/notesMaster" Target="/ppt/notesMasters/notesMaster1.xml" Id="Rfc4e1fb3101142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bdc3beec8f453c" /><Relationship Type="http://schemas.openxmlformats.org/officeDocument/2006/relationships/notesMaster" Target="/ppt/notesMasters/notesMaster1.xml" Id="R58a83012661b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для Академии Финтеха 2026. Трек «Финтех без границ». Стадия: работающий браузерный MVP. ИИ-модель и интеграции пока не подключены.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РСПП, «Состояние российской экономики и деятельность компаний: результаты мониторинга РСПП по итогам II квартала 2026 года». https://rspp.ru/activity/analytics/sostoyanie-rossiyskoy-ekonomiki-i-deyatelnost-kompaniy-rezultaty-monitoringa-rspp-po-itogam-ii-kvart . Показатель относится к участникам мониторинга, а не ко всем российским компаниям. Найденная статистика не определяет долю задержек, которые способен устранить продукт.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Целевой сегмент и причины задержек являются продуктовыми гипотезами. Интервью, пилотов и подтверждённых продаж пока нет. Начальный сегмент: B2B-услуги с отсрочкой платежа.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снимок работающего MVP, созданный 11 октября 2026 года. Демонстрационные компании и переписка вымышлены. Реализованы импорт CSV, расчёт остатка и просрочки, поиск, фильтры и разбор текста по правилам.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вымышленный, взят из демонстрационного набора MVP. Цитата из контекста: «Не получили подписанный акт за сентябрь. Пришлите, пожалуйста, повторно: без него бухгалтерия не сможет провести оплату». Детерминированный разбор находит явную формулировку запроса документа. Это сигнал для проверки человеком. Языковая модель не подключена.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Функции проверены в браузере: создание и выполнение действия, редактирование текста письма, валидация и импорт CSV, частичная оплата, сохранение в пределах вкладки, добавление текста переписки и мобильная версия. Это техническая проверка, а не пользовательский пилот. Языковая модель, OCR, почта, 1С и банковские интеграции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функций 1С: https://v8.1c.ru/cpm-erp/kommercheskomu-direktoru/ . В системе есть контроль сроков и задолженности, напоминания и дальнейшая работа. Источник соседнего сегмента: https://planfact.io/price . Отличие нового продукта не подтверждено сравнительным испытанием. Мы исследуем ценность разбора переписки и документов по конкретному счёту поверх учётной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этом слайде являются иллюстративными допущениями, не результатами пилота. 3 000 000 / 30 * 3 = 300 000 рублей высвобождённого оборотного капитала при равномерном распределении поступлений. Это не дополнительная выручка и не экономия 300 000 рублей. Гипотеза подписки 5–15 тыс. рублей в месяц требует проверки. Ориентир смежной категории: https://planfact.io/price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достигнутые результаты. К 1 ноября планируется исследование, выбор узкого сегмента и тестирование MVP. К 29 ноября: развитие разбора, качество и финансовая модель. К 8 декабря: пилот при согласовании с заказчиком. Для оценки качества важны разметка специалиста и отдельные проверочные примеры. Банковская интеграция является перспективой, не договорённостью с ВТБ.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Иван Сороковых и Михаил, магистранты ТИУ по информации пользователя. Фамилия Михаила не предоставлена и не выдумана. Роли являются планом распределения работы. Стадия: MVP. Исследования пользователей, пилота и подтверждённых продаж нет. Демо https://krackenhell.github.io/oplata-vovremya/ . Код https://github.com/Krackenhell/oplata-vovremya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50022d1a640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1e9813a6a48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c27e26eca48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8a12acbfe4a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7725f186e46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64684b6b4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EC9626-A6FE-4F83-99CD-52EBECEBF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AEA647-7099-4B84-8007-2316492023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DA191F-9FEC-41DB-8B49-4B895B528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9AF0D1-ECF6-4DCB-AAFB-E1F5F8F70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FF4545-3F84-4BA0-995B-5454448B8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8E7738-48CD-4E34-B6AF-17EC59483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10A89E-EBEC-44D5-99AE-0E9EAC7C4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AD76E0-4A5D-4DCB-B4F7-BDF3C58D84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2723BA-E1BB-4B7A-AE20-D52012DF60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1C3781-10DA-43D6-B81F-D061275A7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6e45a7e414662" /><Relationship Type="http://schemas.openxmlformats.org/officeDocument/2006/relationships/slideLayout" Target="/ppt/slideLayouts/slideLayout1.xml" Id="Rb7932dc056eb4d75" /><Relationship Type="http://schemas.openxmlformats.org/officeDocument/2006/relationships/slideLayout" Target="/ppt/slideLayouts/slideLayout2.xml" Id="R9db30c15429d45a2" /><Relationship Type="http://schemas.openxmlformats.org/officeDocument/2006/relationships/slideLayout" Target="/ppt/slideLayouts/slideLayout3.xml" Id="R3d8b606083894bbd" /><Relationship Type="http://schemas.openxmlformats.org/officeDocument/2006/relationships/slideLayout" Target="/ppt/slideLayouts/slideLayout4.xml" Id="R9ac7383850454d03" /><Relationship Type="http://schemas.openxmlformats.org/officeDocument/2006/relationships/slideLayout" Target="/ppt/slideLayouts/slideLayout5.xml" Id="R5a514ed950ff4263" /><Relationship Type="http://schemas.openxmlformats.org/officeDocument/2006/relationships/slideLayout" Target="/ppt/slideLayouts/slideLayout6.xml" Id="R3b99b17aafd0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32dc056eb4d75"/>
    <p:sldLayoutId xmlns:r="http://schemas.openxmlformats.org/officeDocument/2006/relationships" id="2147483650" r:id="R9db30c15429d45a2"/>
    <p:sldLayoutId xmlns:r="http://schemas.openxmlformats.org/officeDocument/2006/relationships" id="2147483651" r:id="R3d8b606083894bbd"/>
    <p:sldLayoutId xmlns:r="http://schemas.openxmlformats.org/officeDocument/2006/relationships" id="2147483652" r:id="R9ac7383850454d03"/>
    <p:sldLayoutId xmlns:r="http://schemas.openxmlformats.org/officeDocument/2006/relationships" id="2147483653" r:id="R5a514ed950ff4263"/>
    <p:sldLayoutId xmlns:r="http://schemas.openxmlformats.org/officeDocument/2006/relationships" id="2147483654" r:id="R3b99b17aafd0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21cc56a9a407c" /><Relationship Type="http://schemas.openxmlformats.org/officeDocument/2006/relationships/notesSlide" Target="/ppt/notesSlides/notesSlide1.xml" Id="R0245495c001747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538a00c1948ea" /><Relationship Type="http://schemas.openxmlformats.org/officeDocument/2006/relationships/notesSlide" Target="/ppt/notesSlides/notesSlide2.xml" Id="R9fd486ab65e3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3dde5cbc94297" /><Relationship Type="http://schemas.openxmlformats.org/officeDocument/2006/relationships/notesSlide" Target="/ppt/notesSlides/notesSlide3.xml" Id="R0b7e0699939742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be14f8f7c45a9" /><Relationship Type="http://schemas.openxmlformats.org/officeDocument/2006/relationships/image" Target="/ppt/media/image.png" Id="R20cd6f7783cd4da0" /><Relationship Type="http://schemas.openxmlformats.org/officeDocument/2006/relationships/notesSlide" Target="/ppt/notesSlides/notesSlide4.xml" Id="Rabed92628281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124a8c8d64254" /><Relationship Type="http://schemas.openxmlformats.org/officeDocument/2006/relationships/image" Target="/ppt/media/image2.png" Id="R720fb7a39f414cb0" /><Relationship Type="http://schemas.openxmlformats.org/officeDocument/2006/relationships/notesSlide" Target="/ppt/notesSlides/notesSlide5.xml" Id="R78a2f43c54f14d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bda03407f4528" /><Relationship Type="http://schemas.openxmlformats.org/officeDocument/2006/relationships/notesSlide" Target="/ppt/notesSlides/notesSlide6.xml" Id="R475c735143bf42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d023d38634301" /><Relationship Type="http://schemas.openxmlformats.org/officeDocument/2006/relationships/notesSlide" Target="/ppt/notesSlides/notesSlide7.xml" Id="Rd3fec41052ec46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8575a44ce4990" /><Relationship Type="http://schemas.openxmlformats.org/officeDocument/2006/relationships/notesSlide" Target="/ppt/notesSlides/notesSlide8.xml" Id="R038eaf9bff4d49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c598280f04919" /><Relationship Type="http://schemas.openxmlformats.org/officeDocument/2006/relationships/notesSlide" Target="/ppt/notesSlides/notesSlide9.xml" Id="R30958be6982f43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8ad6e26194c13" /><Relationship Type="http://schemas.openxmlformats.org/officeDocument/2006/relationships/hyperlink" Target="https://krackenhell.github.io/oplata-vovremya/" TargetMode="External" Id="R7ec36e8f76254b78" /><Relationship Type="http://schemas.openxmlformats.org/officeDocument/2006/relationships/notesSlide" Target="/ppt/notesSlides/notesSlide10.xml" Id="R232b02215d6046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73E7F-EC18-41C8-ADB2-462B2BC5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8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3DB8B-175D-4196-AF37-A966B29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572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Оплата</a:t>
            </a:r>
          </a:p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вовремя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C64FD-A3A8-4954-B142-45B6CDCA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E3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E3EBD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3EBDD"/>
                </a:solidFill>
                <a:latin typeface="Arial"/>
                <a:ea typeface="Arial"/>
                <a:cs typeface="Arial"/>
              </a:rPr>
              <a:t>Помогаем разобраться,</a:t>
            </a:r>
          </a:p>
          <a:p xmlns:a="http://schemas.openxmlformats.org/drawingml/2006/main">
            <a:pPr>
              <a:defRPr sz="2475" b="0">
                <a:solidFill>
                  <a:srgbClr val="E3EBD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3EBDD"/>
                </a:solidFill>
                <a:latin typeface="Arial"/>
                <a:ea typeface="Arial"/>
                <a:cs typeface="Arial"/>
              </a:rPr>
              <a:t>что мешает клиенту оплатить счёт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F6AA3-A637-4140-A476-1D3158C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8BD"/>
                </a:solidFill>
                <a:latin typeface="Arial"/>
                <a:ea typeface="Arial"/>
                <a:cs typeface="Arial"/>
              </a:rPr>
              <a:t>Академия Финтеха 2026</a:t>
            </a:r>
          </a:p>
          <a:p xmlns:a="http://schemas.openxmlformats.org/drawingml/2006/main">
            <a:pPr>
              <a:defRPr sz="15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8BD"/>
                </a:solidFill>
                <a:latin typeface="Arial"/>
                <a:ea typeface="Arial"/>
                <a:cs typeface="Arial"/>
              </a:rPr>
              <a:t>Финтех без границ</a:t>
            </a:r>
          </a:p>
        </p:txBody>
      </p:sp>
    </p:spTree>
    <p:extLst>
      <p:ext uri="{BB962C8B-B14F-4D97-AF65-F5344CB8AC3E}">
        <p14:creationId xmlns:p14="http://schemas.microsoft.com/office/powerpoint/2010/main" val="688566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5264A-9939-4A5A-A8A9-6BF23FC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Неплатежи ограничивают работу компаний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31BF4-7214-4FF1-BFE9-448902D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6ED68-6193-4767-9BBE-0B5517B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0" b="1">
                <a:solidFill>
                  <a:srgbClr val="B153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0" b="1">
                <a:solidFill>
                  <a:srgbClr val="B15335"/>
                </a:solidFill>
                <a:latin typeface="Arial"/>
                <a:ea typeface="Arial"/>
                <a:cs typeface="Arial"/>
              </a:defRPr>
            </a:pPr>
            <a:r>
              <a:rPr sz="12000" b="1">
                <a:solidFill>
                  <a:srgbClr val="B15335"/>
                </a:solidFill>
                <a:latin typeface="Arial"/>
                <a:ea typeface="Arial"/>
                <a:cs typeface="Arial"/>
              </a:rPr>
              <a:t>≈40%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16853-5C2D-4193-B8CE-6970246F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524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участников мониторинга РСПП</a:t>
            </a:r>
          </a:p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назвали неплатежи контрагентов</a:t>
            </a:r>
          </a:p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главным ограничением деятельности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F1973-B9BC-40B6-8C8E-C6E1F67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II квартал 2026 года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74F54-B55A-48A2-B27A-056B90E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Наша гипотеза: часть задержек можно сократить,</a:t>
            </a:r>
          </a:p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если вовремя разобраться с документами и договорённостями.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D58E6-11B3-40FE-9D30-02665C57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Источник: мониторинг РСПП. Применимость гипотезы предстоит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580236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10101-6A7E-4A95-92BE-027BD329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Первый клиент: компания с оплатой после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38C73-1D70-416E-A103-C1106A3F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A68B5-A8E1-4E48-81F0-2168A74A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Работу сдали.</a:t>
            </a:r>
          </a:p>
          <a:p xmlns:a="http://schemas.openxmlformats.org/drawingml/2006/main">
            <a:pPr>
              <a:defRPr sz="48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Оплата зависла.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C34D7-03FC-4699-AC03-954C8C97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0502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В реестре видна просрочка.</a:t>
            </a:r>
          </a:p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Причину сотрудник ищет в почте,</a:t>
            </a:r>
          </a:p>
          <a:p xmlns:a="http://schemas.openxmlformats.org/drawingml/2006/main">
            <a:pPr>
              <a:defRPr sz="217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документах и сообщениях коллег.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8525B-B10E-4E8C-9319-2CC23856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Кто работает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99C51-DF59-4CD2-9560-8D947D2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Бухгалтер или финансовый менеджер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ADC1E-FEC3-4B22-91C9-3587137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Кто покупает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04CBC-330B-4C27-85FB-BC50E948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Собственник или</a:t>
            </a:r>
          </a:p>
          <a:p xmlns:a="http://schemas.openxmlformats.org/drawingml/2006/main">
            <a: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финансовый 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201350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F5E3A-5003-496C-9DE3-9FCD5D4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Рабочий стол неоплаченных счетов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0C323-B38E-4F31-B9F2-76AF825B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9022-452E-4579-8A81-926E69BE5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d6f7783cd4da0"/>
          <a:stretch xmlns:a="http://schemas.openxmlformats.org/drawingml/2006/main"/>
        </p:blipFill>
        <p:spPr>
          <a:xfrm xmlns:a="http://schemas.openxmlformats.org/drawingml/2006/main">
            <a:off x="1352550" y="1685925"/>
            <a:ext cx="640080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008DF-019F-4CFC-AF4B-8395FF27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Реестр из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95364-402B-4CFD-A504-C60F7FFE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Остаток с учётом</a:t>
            </a:r>
          </a:p>
          <a:p xmlns:a="http://schemas.openxmlformats.org/drawingml/2006/main">
            <a:pPr>
              <a:defRPr sz="19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частичных оплат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B4018-EC77-421D-BDE7-99F4E74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Просрочка</a:t>
            </a:r>
          </a:p>
          <a:p xmlns:a="http://schemas.openxmlformats.org/drawingml/2006/main">
            <a:pPr>
              <a:defRPr sz="19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на выбранную дату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7B49E-3B44-4CDB-8BE5-FD9E52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2447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Открытое демо</a:t>
            </a:r>
          </a:p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без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1818850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7BF20-2DE2-47CD-8BB2-92422CB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Запрос клиента становится конкретным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05B07-F5BE-454D-8954-4A19E7C8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F720-7072-43FF-B5AD-52F0AC3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22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22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184 000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830E2-F24F-45E8-B044-B0F1907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Счёт № 1042, семь дней просрочки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3135A-E2A7-4B28-9DDC-1F024476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681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«Не получили подписанный акт</a:t>
            </a:r>
          </a:p>
          <a:p xmlns:a="http://schemas.openxmlformats.org/drawingml/2006/main">
            <a:pPr>
              <a:defRPr sz="26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за сентябрь. Пришлите повторно»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09269-6C3F-42FE-A809-46367FA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4E018-8CDF-4CC3-B051-53D6C92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Проверить документ и передать клиенту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DA25A-4477-4E97-9DEA-5154000F5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fb7a39f414cb0"/>
          <a:stretch xmlns:a="http://schemas.openxmlformats.org/drawingml/2006/main"/>
        </p:blipFill>
        <p:spPr>
          <a:xfrm xmlns:a="http://schemas.openxmlformats.org/drawingml/2006/main">
            <a:off x="8788919" y="1714500"/>
            <a:ext cx="2367512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22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CB4FE-6B4C-4250-AD96-E16140E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Что уже можно попробовать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0B69E-BE89-4347-9621-6F966937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0925E-AB74-4459-9BE6-AB4CC44B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Работает сейчас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8CCC0-8C1B-4F1F-8FA3-CCF32B3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5429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Импорт счетов и частичных оплат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Разбор текста с исходной цитатой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Действия для ответственного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Редактируемое письмо клиенту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Учёт поступления и экспорт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F9627-6ECE-4BFB-BAD1-7A67C8DE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240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153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153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15335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4901D-C4E0-4097-A60D-6FDD7E8A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09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Языковая модель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Почта и учётная система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Проверка на реальных случаях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716E8-CB88-48D8-ACC8-2F2B904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91100"/>
            <a:ext cx="4333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Сейчас данные остаются в браузере.</a:t>
            </a:r>
          </a:p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Сервис не отправляет сообщения</a:t>
            </a:r>
          </a:p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и не проводит платежи.</a:t>
            </a:r>
          </a:p>
        </p:txBody>
      </p:sp>
    </p:spTree>
    <p:extLst>
      <p:ext uri="{BB962C8B-B14F-4D97-AF65-F5344CB8AC3E}">
        <p14:creationId xmlns:p14="http://schemas.microsoft.com/office/powerpoint/2010/main" val="154202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63EAA-DD5C-4E68-9EB9-1D46C1C8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Существующие решения и наша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C2D3D-8C76-40DE-B3A5-BB5FF9A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B0075-6ABC-49E6-AF23-24105A562804}"/>
              </a:ext>
            </a:extLst>
          </p:cNvPr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108204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86650"/>
              </a:tblGrid>
              <a:tr h="72628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Инструмент</a:t>
                      </a:r>
                    </a:p>
                  </a:txBody>
                  <a:tcPr marL="133350" marR="133350" marT="142875" marB="142875">
                    <a:solidFill>
                      <a:srgbClr val="315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решает</a:t>
                      </a:r>
                    </a:p>
                  </a:txBody>
                  <a:tcPr marL="133350" marR="133350" marT="142875" marB="142875">
                    <a:solidFill>
                      <a:srgbClr val="315D4B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2A28"/>
                          </a:solidFill>
                          <a:latin typeface="Arial"/>
                          <a:ea typeface="Arial"/>
                          <a:cs typeface="Arial"/>
                        </a:rPr>
                        <a:t>1С и системы учёта</a:t>
                      </a:r>
                    </a:p>
                  </a:txBody>
                  <a:tcPr marL="133350" marR="133350" marT="142875" marB="142875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2A28"/>
                          </a:solidFill>
                          <a:latin typeface="Arial"/>
                          <a:ea typeface="Arial"/>
                          <a:cs typeface="Arial"/>
                        </a:rPr>
                        <a:t>Суммы, сроки, задолженность, напоминания</a:t>
                      </a:r>
                    </a:p>
                  </a:txBody>
                  <a:tcPr marL="133350" marR="133350" marT="142875" marB="142875">
                    <a:solidFill>
                      <a:srgbClr val="F6F5F1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2A28"/>
                          </a:solidFill>
                          <a:latin typeface="Arial"/>
                          <a:ea typeface="Arial"/>
                          <a:cs typeface="Arial"/>
                        </a:rPr>
                        <a:t>Почта и документы</a:t>
                      </a:r>
                    </a:p>
                  </a:txBody>
                  <a:tcPr marL="133350" marR="133350" marT="142875" marB="142875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2A28"/>
                          </a:solidFill>
                          <a:latin typeface="Arial"/>
                          <a:ea typeface="Arial"/>
                          <a:cs typeface="Arial"/>
                        </a:rPr>
                        <a:t>Контекст остаётся в отдельных сообщениях</a:t>
                      </a:r>
                    </a:p>
                  </a:txBody>
                  <a:tcPr marL="133350" marR="133350" marT="142875" marB="142875">
                    <a:solidFill>
                      <a:srgbClr val="F6F5F1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2A28"/>
                          </a:solidFill>
                          <a:latin typeface="Arial"/>
                          <a:ea typeface="Arial"/>
                          <a:cs typeface="Arial"/>
                        </a:rPr>
                        <a:t>Наша гипотеза</a:t>
                      </a:r>
                    </a:p>
                  </a:txBody>
                  <a:tcPr marL="133350" marR="133350" marT="142875" marB="142875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2A28"/>
                          </a:solidFill>
                          <a:latin typeface="Arial"/>
                          <a:ea typeface="Arial"/>
                          <a:cs typeface="Arial"/>
                        </a:rPr>
                        <a:t>Причина задержки и действие в карточке счёта</a:t>
                      </a:r>
                    </a:p>
                  </a:txBody>
                  <a:tcPr marL="133350" marR="133350" marT="142875" marB="142875">
                    <a:solidFill>
                      <a:srgbClr val="F6F5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C9A49-B0E9-4122-96E7-21F80D2E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15D4B"/>
                </a:solidFill>
                <a:latin typeface="Arial"/>
                <a:ea typeface="Arial"/>
                <a:cs typeface="Arial"/>
              </a:rPr>
              <a:t>Проверим, экономит ли работа с контекстом время сотрудника</a:t>
            </a:r>
          </a:p>
          <a:p xmlns:a="http://schemas.openxmlformats.org/drawingml/2006/main">
            <a:pPr>
              <a:defRPr sz="2025" b="0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15D4B"/>
                </a:solidFill>
                <a:latin typeface="Arial"/>
                <a:ea typeface="Arial"/>
                <a:cs typeface="Arial"/>
              </a:rPr>
              <a:t>и помогает ли устранять задержки сверх обычных напоминаний.</a:t>
            </a:r>
          </a:p>
        </p:txBody>
      </p:sp>
    </p:spTree>
    <p:extLst>
      <p:ext uri="{BB962C8B-B14F-4D97-AF65-F5344CB8AC3E}">
        <p14:creationId xmlns:p14="http://schemas.microsoft.com/office/powerpoint/2010/main" val="1918642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8DC07-D844-4E9E-8C80-09B1C295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Экономика: сколько стоит задержка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E61A1-7C6B-4D10-A54D-39AF41DC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01C60-D5AD-4EDD-9323-E954028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714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42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42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742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300 000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F5358-002E-4B9B-B136-C68EE25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оборотных средств можно высвободить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9401C-33AB-4924-B53E-2270E07A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Пример расчёта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24682-32BA-47A5-80FF-F9C461B6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3 млн ₽ поступлений в месяц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Оплата в среднем на 3 дня раньше</a:t>
            </a:r>
          </a:p>
          <a:p xmlns:a="http://schemas.openxmlformats.org/drawingml/2006/main">
            <a:pPr>
              <a:defRPr sz="2100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3 000 000 / 30 × 3 = 300 000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F6E38-2A3D-4093-8259-07AE1B4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767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153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153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15335"/>
                </a:solidFill>
                <a:latin typeface="Arial"/>
                <a:ea typeface="Arial"/>
                <a:cs typeface="Arial"/>
              </a:rPr>
              <a:t>5–15 тыс. ₽ / мес.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9E343-813B-4CE5-BA95-0AA8DE4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Гипотеза подписки.</a:t>
            </a:r>
          </a:p>
          <a:p xmlns:a="http://schemas.openxmlformats.org/drawingml/2006/main">
            <a:pPr>
              <a:defRPr sz="18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Цену проверим на интервью.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8D79D-0953-43C2-830E-3F61E998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Иллюстрация, не результат пилота. Высвобождение денег не равно прибыли.</a:t>
            </a:r>
          </a:p>
        </p:txBody>
      </p:sp>
    </p:spTree>
    <p:extLst>
      <p:ext uri="{BB962C8B-B14F-4D97-AF65-F5344CB8AC3E}">
        <p14:creationId xmlns:p14="http://schemas.microsoft.com/office/powerpoint/2010/main" val="1311443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D5D6E-2670-4FFE-B32E-1DB17717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Проверка спроса и путь к пилоту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8B820-DE9B-4C3D-8EEB-B823230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1545B-70F7-4E27-AD8C-7DF69F6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До 1 ноября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8A314-1606-4F81-873D-6460089A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Интервью с финансовыми</a:t>
            </a:r>
          </a:p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сотрудниками. Разбор</a:t>
            </a:r>
          </a:p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обезличенных случаев.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764D9-E801-4072-A686-709B204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81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До 29 ноября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128FC-0F1C-48B0-980F-834CC0E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Модель с проверкой цитат.</a:t>
            </a:r>
          </a:p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Оценка качества.</a:t>
            </a:r>
          </a:p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Экономика внедрения.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A449-0D71-482E-893B-20A008C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15D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15D4B"/>
                </a:solidFill>
                <a:latin typeface="Arial"/>
                <a:ea typeface="Arial"/>
                <a:cs typeface="Arial"/>
              </a:rPr>
              <a:t>До 8 декабря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9613B-944B-4DB3-8427-69E70466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3367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Ограниченный пилот</a:t>
            </a:r>
          </a:p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при согласовании</a:t>
            </a:r>
          </a:p>
          <a:p xmlns:a="http://schemas.openxmlformats.org/drawingml/2006/main">
            <a:pPr>
              <a:defRPr sz="2025" b="0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2A28"/>
                </a:solidFill>
                <a:latin typeface="Arial"/>
                <a:ea typeface="Arial"/>
                <a:cs typeface="Arial"/>
              </a:rPr>
              <a:t>с компанией.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AA0FE-F537-4DFA-BEB9-3A4B333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2A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A28"/>
                </a:solidFill>
                <a:latin typeface="Arial"/>
                <a:ea typeface="Arial"/>
                <a:cs typeface="Arial"/>
              </a:rPr>
              <a:t>Критерии решения о развитии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4B9CE-D09F-4B3D-A2D4-3076D514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Есть повторяющаяся устранимая причина задержек.</a:t>
            </a:r>
          </a:p>
          <a:p xmlns:a="http://schemas.openxmlformats.org/drawingml/2006/main">
            <a:pPr>
              <a:defRPr sz="2025" b="0">
                <a:solidFill>
                  <a:srgbClr val="7178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1786F"/>
                </a:solidFill>
                <a:latin typeface="Arial"/>
                <a:ea typeface="Arial"/>
                <a:cs typeface="Arial"/>
              </a:rPr>
              <a:t>Сотрудник тратит меньше времени. Покупатель готов оплатить пилот.</a:t>
            </a:r>
          </a:p>
        </p:txBody>
      </p:sp>
    </p:spTree>
    <p:extLst>
      <p:ext uri="{BB962C8B-B14F-4D97-AF65-F5344CB8AC3E}">
        <p14:creationId xmlns:p14="http://schemas.microsoft.com/office/powerpoint/2010/main" val="368064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15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35D93-4475-4AC7-83DA-32D77D32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 уже открыто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421CF-6AE0-457D-A837-8412522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8B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254AC-8140-4434-A3B0-189CAE9B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7ec36e8f76254b78"/>
              </a:rPr>
              <a:t>krackenhell.github.io/oplata-vovremya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44A1B-7E3D-458C-BEE7-B155AAC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Иван Сороковых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1FCCA-E317-4C38-AB3A-FD2A7E99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6E2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6E2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2D3"/>
                </a:solidFill>
                <a:latin typeface="Arial"/>
                <a:ea typeface="Arial"/>
                <a:cs typeface="Arial"/>
              </a:rPr>
              <a:t>Разработка и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4384B-885C-4B6F-A7FD-7EEAA038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38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Михаил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A9C1A-997C-4AFA-A918-9D9A26A5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6E2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6E2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2D3"/>
                </a:solidFill>
                <a:latin typeface="Arial"/>
                <a:ea typeface="Arial"/>
                <a:cs typeface="Arial"/>
              </a:rPr>
              <a:t>Исследование процессов</a:t>
            </a:r>
          </a:p>
          <a:p xmlns:a="http://schemas.openxmlformats.org/drawingml/2006/main">
            <a:pPr>
              <a:defRPr sz="1875" b="0">
                <a:solidFill>
                  <a:srgbClr val="D6E2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2D3"/>
                </a:solidFill>
                <a:latin typeface="Arial"/>
                <a:ea typeface="Arial"/>
                <a:cs typeface="Arial"/>
              </a:rPr>
              <a:t>и проверка сценариев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85F95-61AC-48F7-98DD-74D55AF3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7C8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8BD"/>
                </a:solidFill>
                <a:latin typeface="Arial"/>
                <a:ea typeface="Arial"/>
                <a:cs typeface="Arial"/>
              </a:rPr>
              <a:t>Магистранты ТИУ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8AD6C-C534-4D0B-8DE0-A6C10B44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150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Ищем компанию для проверки на реальных счетах</a:t>
            </a:r>
          </a:p>
        </p:txBody>
      </p:sp>
    </p:spTree>
    <p:extLst>
      <p:ext uri="{BB962C8B-B14F-4D97-AF65-F5344CB8AC3E}">
        <p14:creationId xmlns:p14="http://schemas.microsoft.com/office/powerpoint/2010/main" val="1468196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2026-10-11T20:03:01.1460000Z</dcterms:created>
  <dcterms:modified xsi:type="dcterms:W3CDTF">2026-10-11T20:03:01.1460000Z</dcterms:modified>
</coreProperties>
</file>